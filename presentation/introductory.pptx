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ershAeQ8c9A/XYwjvtAp35Wdv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customschemas.google.com/relationships/presentationmetadata" Target="meta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3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766560" y="-1188720"/>
            <a:ext cx="4206240" cy="4206240"/>
          </a:xfrm>
          <a:prstGeom prst="ellipse">
            <a:avLst/>
          </a:prstGeom>
          <a:solidFill>
            <a:srgbClr val="0E7C86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955280" y="2743200"/>
            <a:ext cx="2926080" cy="2926080"/>
          </a:xfrm>
          <a:prstGeom prst="ellipse">
            <a:avLst/>
          </a:prstGeom>
          <a:solidFill>
            <a:srgbClr val="D6850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6C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FC6C6"/>
                </a:solidFill>
                <a:latin typeface="Calibri"/>
                <a:ea typeface="Calibri"/>
                <a:cs typeface="Calibri"/>
                <a:sym typeface="Calibri"/>
              </a:rPr>
              <a:t>IPAM USL  ·  5 WEEKS  ·  GOOGLE COLAB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1051560"/>
            <a:ext cx="8046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Introduction to Artificial Intelligence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05740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CFE3E3"/>
                </a:solidFill>
                <a:latin typeface="Cambria"/>
                <a:ea typeface="Cambria"/>
                <a:cs typeface="Cambria"/>
                <a:sym typeface="Cambria"/>
              </a:rPr>
              <a:t>Building Intelligent Systems — Introductory tier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880360"/>
            <a:ext cx="5852160" cy="1143000"/>
          </a:xfrm>
          <a:prstGeom prst="roundRect">
            <a:avLst>
              <a:gd fmla="val 6400" name="adj"/>
            </a:avLst>
          </a:prstGeom>
          <a:solidFill>
            <a:srgbClr val="0B2E32"/>
          </a:solidFill>
          <a:ln cap="flat" cmpd="sng" w="12700">
            <a:solidFill>
              <a:srgbClr val="1C52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77240" y="30358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6850F"/>
                </a:solidFill>
                <a:latin typeface="Calibri"/>
                <a:ea typeface="Calibri"/>
                <a:cs typeface="Calibri"/>
                <a:sym typeface="Calibri"/>
              </a:rPr>
              <a:t>RUNNING SCENARIO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77240" y="329184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0F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4F0F0"/>
                </a:solidFill>
                <a:latin typeface="Calibri"/>
                <a:ea typeface="Calibri"/>
                <a:cs typeface="Calibri"/>
                <a:sym typeface="Calibri"/>
              </a:rPr>
              <a:t>Route R12 (Wilberforce → CBD), operator OP-104 — a 25-minute delay drives every example, all five weeks.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903720" y="3246120"/>
            <a:ext cx="146304" cy="146304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" name="Google Shape;25;p1"/>
          <p:cNvCxnSpPr/>
          <p:nvPr/>
        </p:nvCxnSpPr>
        <p:spPr>
          <a:xfrm>
            <a:off x="7050024" y="3319272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D6850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" name="Google Shape;26;p1"/>
          <p:cNvSpPr/>
          <p:nvPr/>
        </p:nvSpPr>
        <p:spPr>
          <a:xfrm>
            <a:off x="8010144" y="3246120"/>
            <a:ext cx="146304" cy="146304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583680" y="342900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FE3E3"/>
                </a:solidFill>
                <a:latin typeface="Calibri"/>
                <a:ea typeface="Calibri"/>
                <a:cs typeface="Calibri"/>
                <a:sym typeface="Calibri"/>
              </a:rPr>
              <a:t>Wilberforce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690104" y="342900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FE3E3"/>
                </a:solidFill>
                <a:latin typeface="Calibri"/>
                <a:ea typeface="Calibri"/>
                <a:cs typeface="Calibri"/>
                <a:sym typeface="Calibri"/>
              </a:rPr>
              <a:t>CBD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6C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FC6C6"/>
                </a:solidFill>
                <a:latin typeface="Calibri"/>
                <a:ea typeface="Calibri"/>
                <a:cs typeface="Calibri"/>
                <a:sym typeface="Calibri"/>
              </a:rPr>
              <a:t>Facilitator: Solomon Wilson MBCS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How this course works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1234440"/>
            <a:ext cx="3977640" cy="1645920"/>
          </a:xfrm>
          <a:prstGeom prst="roundRect">
            <a:avLst>
              <a:gd fmla="val 4444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13232" y="1490472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170432" y="149047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CONTENT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31520" y="1947672"/>
            <a:ext cx="3429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The IPAM syllab</a:t>
            </a:r>
            <a:r>
              <a:rPr b="0" i="0" lang="en-US" sz="13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us</a:t>
            </a:r>
            <a:r>
              <a:rPr b="0" i="0" lang="en-US" sz="13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: classical ML → neural networks → LLM apps. Real tools, real code.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09160" y="1234440"/>
            <a:ext cx="3977640" cy="1645920"/>
          </a:xfrm>
          <a:prstGeom prst="roundRect">
            <a:avLst>
              <a:gd fmla="val 4444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4965192" y="1490472"/>
            <a:ext cx="310896" cy="310896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422392" y="149047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DELIVERY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983480" y="1947672"/>
            <a:ext cx="3429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Strict Introductory discipline: one concept a day, predict-then-run, fill-one-blank exercises.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3063240"/>
            <a:ext cx="3977640" cy="1645920"/>
          </a:xfrm>
          <a:prstGeom prst="roundRect">
            <a:avLst>
              <a:gd fmla="val 4444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713232" y="3319272"/>
            <a:ext cx="310896" cy="310896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1170432" y="331927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DATA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31520" y="3776472"/>
            <a:ext cx="3429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Every example uses synthetic SLPTA data — no campus, mobile-money, or generic chatbot demos.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709160" y="3063240"/>
            <a:ext cx="3977640" cy="1645920"/>
          </a:xfrm>
          <a:prstGeom prst="roundRect">
            <a:avLst>
              <a:gd fmla="val 4444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965192" y="3319272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422392" y="3319272"/>
            <a:ext cx="3063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DELIVERABLES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983480" y="3776472"/>
            <a:ext cx="3429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Four graded pieces: problem statement (D5), ethics checklist (D12), project brief (D14), presentation (D15).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The 15-day map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1188720"/>
            <a:ext cx="8229600" cy="603504"/>
          </a:xfrm>
          <a:prstGeom prst="roundRect">
            <a:avLst>
              <a:gd fmla="val 909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603504" y="1307592"/>
            <a:ext cx="457200" cy="365760"/>
          </a:xfrm>
          <a:prstGeom prst="roundRect">
            <a:avLst>
              <a:gd fmla="val 15000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03504" y="1307592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234440" y="1188720"/>
            <a:ext cx="6035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What is AI?  ·  Data preparation  ·  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223760" y="1188720"/>
            <a:ext cx="1371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E7C86"/>
                </a:solidFill>
                <a:latin typeface="Calibri"/>
                <a:ea typeface="Calibri"/>
                <a:cs typeface="Calibri"/>
                <a:sym typeface="Calibri"/>
              </a:rPr>
              <a:t>Module 1 begins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57200" y="1883664"/>
            <a:ext cx="8229600" cy="603504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03504" y="2002536"/>
            <a:ext cx="457200" cy="365760"/>
          </a:xfrm>
          <a:prstGeom prst="roundRect">
            <a:avLst>
              <a:gd fmla="val 15000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03504" y="2002536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234440" y="1883664"/>
            <a:ext cx="6035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Regression  ·  Unsupervised + Deliverable 1  ·  How neural nets learn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57200" y="2578608"/>
            <a:ext cx="8229600" cy="603504"/>
          </a:xfrm>
          <a:prstGeom prst="roundRect">
            <a:avLst>
              <a:gd fmla="val 909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03504" y="2697480"/>
            <a:ext cx="457200" cy="365760"/>
          </a:xfrm>
          <a:prstGeom prst="roundRect">
            <a:avLst>
              <a:gd fmla="val 15000" name="adj"/>
            </a:avLst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603504" y="26974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234440" y="2578608"/>
            <a:ext cx="6035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First Keras network  ·  Transfer learning  ·  First LLM call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223760" y="2578608"/>
            <a:ext cx="1371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A3B6B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3273552"/>
            <a:ext cx="8229600" cy="603504"/>
          </a:xfrm>
          <a:prstGeom prst="roundRect">
            <a:avLst>
              <a:gd fmla="val 9091" name="adj"/>
            </a:avLst>
          </a:prstGeom>
          <a:solidFill>
            <a:srgbClr val="FFFFFF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603504" y="3392424"/>
            <a:ext cx="457200" cy="365760"/>
          </a:xfrm>
          <a:prstGeom prst="roundRect">
            <a:avLst>
              <a:gd fmla="val 15000" name="adj"/>
            </a:avLst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03504" y="3392424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234440" y="3273552"/>
            <a:ext cx="6035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Prompt engineering  ·  Gradio app  ·  Responsible AI + Deliverable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223760" y="3273552"/>
            <a:ext cx="13716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6850F"/>
                </a:solidFill>
                <a:latin typeface="Calibri"/>
                <a:ea typeface="Calibri"/>
                <a:cs typeface="Calibri"/>
                <a:sym typeface="Calibri"/>
              </a:rPr>
              <a:t>Module 3 begins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3968496"/>
            <a:ext cx="8229600" cy="603504"/>
          </a:xfrm>
          <a:prstGeom prst="roundRect">
            <a:avLst>
              <a:gd fmla="val 909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03504" y="4087368"/>
            <a:ext cx="457200" cy="365760"/>
          </a:xfrm>
          <a:prstGeom prst="roundRect">
            <a:avLst>
              <a:gd fmla="val 15000" name="adj"/>
            </a:avLst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03504" y="40873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234440" y="3968496"/>
            <a:ext cx="603504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Capstone build  ·  Refine + Deliverable 3  ·  Presentations + Deliverable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One mental model per day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93268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L1 → L15 — the spine of the course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57200" y="1417320"/>
            <a:ext cx="8229600" cy="566928"/>
          </a:xfrm>
          <a:prstGeom prst="roundRect">
            <a:avLst>
              <a:gd fmla="val 9677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03504" y="1517904"/>
            <a:ext cx="960120" cy="365760"/>
          </a:xfrm>
          <a:prstGeom prst="roundRect">
            <a:avLst>
              <a:gd fmla="val 15000" name="adj"/>
            </a:avLst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03504" y="1517904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L1–L5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783080" y="1417320"/>
            <a:ext cx="6766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rules vs learning · data as fuel · classification · regression · clustering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2075688"/>
            <a:ext cx="8229600" cy="566928"/>
          </a:xfrm>
          <a:prstGeom prst="roundRect">
            <a:avLst>
              <a:gd fmla="val 9677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03504" y="2176272"/>
            <a:ext cx="960120" cy="365760"/>
          </a:xfrm>
          <a:prstGeom prst="roundRect">
            <a:avLst>
              <a:gd fmla="val 15000" name="adj"/>
            </a:avLst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03504" y="2176272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L6–L8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783080" y="2075688"/>
            <a:ext cx="6766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how a neuron learns · building a network · transfer learning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7200" y="2734056"/>
            <a:ext cx="8229600" cy="566928"/>
          </a:xfrm>
          <a:prstGeom prst="roundRect">
            <a:avLst>
              <a:gd fmla="val 9677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03504" y="2834640"/>
            <a:ext cx="960120" cy="365760"/>
          </a:xfrm>
          <a:prstGeom prst="roundRect">
            <a:avLst>
              <a:gd fmla="val 15000" name="adj"/>
            </a:avLst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03504" y="2834640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L9–L10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783080" y="2734056"/>
            <a:ext cx="6766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calling an LLM · prompting as specification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3392424"/>
            <a:ext cx="8229600" cy="566928"/>
          </a:xfrm>
          <a:prstGeom prst="roundRect">
            <a:avLst>
              <a:gd fmla="val 9677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03504" y="3493008"/>
            <a:ext cx="960120" cy="365760"/>
          </a:xfrm>
          <a:prstGeom prst="roundRect">
            <a:avLst>
              <a:gd fmla="val 15000" name="adj"/>
            </a:avLst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03504" y="3493008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L11–L12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783080" y="3392424"/>
            <a:ext cx="6766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notebook → app · responsible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" y="4050792"/>
            <a:ext cx="8229600" cy="566928"/>
          </a:xfrm>
          <a:prstGeom prst="roundRect">
            <a:avLst>
              <a:gd fmla="val 9677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03504" y="4151376"/>
            <a:ext cx="960120" cy="365760"/>
          </a:xfrm>
          <a:prstGeom prst="roundRect">
            <a:avLst>
              <a:gd fmla="val 15000" name="adj"/>
            </a:avLst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03504" y="4151376"/>
            <a:ext cx="960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L13–L15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783080" y="4050792"/>
            <a:ext cx="6766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capstone — build · refine · present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3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7132320" y="-1097280"/>
            <a:ext cx="4023360" cy="4023360"/>
          </a:xfrm>
          <a:prstGeom prst="ellipse">
            <a:avLst/>
          </a:prstGeom>
          <a:solidFill>
            <a:srgbClr val="0E7C8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0C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FD0CF"/>
                </a:solidFill>
                <a:latin typeface="Calibri"/>
                <a:ea typeface="Calibri"/>
                <a:cs typeface="Calibri"/>
                <a:sym typeface="Calibri"/>
              </a:rPr>
              <a:t>MODULE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548640" y="132588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Foundations &amp; ML Essentials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CFE3E3"/>
                </a:solidFill>
                <a:latin typeface="Cambria"/>
                <a:ea typeface="Cambria"/>
                <a:cs typeface="Cambria"/>
                <a:sym typeface="Cambria"/>
              </a:rPr>
              <a:t>Days 1–5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8640" y="2971800"/>
            <a:ext cx="7955280" cy="1280160"/>
          </a:xfrm>
          <a:prstGeom prst="roundRect">
            <a:avLst>
              <a:gd fmla="val 5714" name="adj"/>
            </a:avLst>
          </a:prstGeom>
          <a:solidFill>
            <a:srgbClr val="0B2E32"/>
          </a:solidFill>
          <a:ln cap="flat" cmpd="sng" w="12700">
            <a:solidFill>
              <a:srgbClr val="1C52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777240" y="312724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6850F"/>
                </a:solidFill>
                <a:latin typeface="Calibri"/>
                <a:ea typeface="Calibri"/>
                <a:cs typeface="Calibri"/>
                <a:sym typeface="Calibri"/>
              </a:rPr>
              <a:t>ROUTE R12 HOOK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777240" y="3383280"/>
            <a:ext cx="7498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0F0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E4F0F0"/>
                </a:solidFill>
                <a:latin typeface="Calibri"/>
                <a:ea typeface="Calibri"/>
                <a:cs typeface="Calibri"/>
                <a:sym typeface="Calibri"/>
              </a:rPr>
              <a:t>Dispatch got 40 angry calls about R12's delay. Can a computer learn to triage the complaints, predict the delay, and group operators — all from data?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7040880" y="1371600"/>
            <a:ext cx="146304" cy="146304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7" name="Google Shape;127;p5"/>
          <p:cNvCxnSpPr/>
          <p:nvPr/>
        </p:nvCxnSpPr>
        <p:spPr>
          <a:xfrm>
            <a:off x="7187184" y="1444752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D6850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Google Shape;128;p5"/>
          <p:cNvSpPr/>
          <p:nvPr/>
        </p:nvSpPr>
        <p:spPr>
          <a:xfrm>
            <a:off x="8147304" y="1371600"/>
            <a:ext cx="146304" cy="146304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720840" y="155448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FE3E3"/>
                </a:solidFill>
                <a:latin typeface="Calibri"/>
                <a:ea typeface="Calibri"/>
                <a:cs typeface="Calibri"/>
                <a:sym typeface="Calibri"/>
              </a:rPr>
              <a:t>Wilberforce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827264" y="155448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FE3E3"/>
                </a:solidFill>
                <a:latin typeface="Calibri"/>
                <a:ea typeface="Calibri"/>
                <a:cs typeface="Calibri"/>
                <a:sym typeface="Calibri"/>
              </a:rPr>
              <a:t>CBD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0E7C86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1 — What Is AI? Rules → Learning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1  ·  Week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Traditional code follows a rule we write; machine learning finds the rule from examples.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Hand-label 10 R12 complaints, then a keyword rule labels them — it scores 9/10, good but brittle.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Add one keyword and see which labels change.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“AI learns the rule from examples; code just follows the rule we wrote.”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1 · L1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0E7C86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2 — Data Is the Fuel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1  ·  Week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Clean before you model: missing values, duplicates, outliers, encoding, train/test split.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Clean the route log — impute weather, drop a 600-minute typo — then split it for modelling.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Change test_size and watch the train/test counts move.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“A model is only as good as the data you feed it.”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2 · L2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0E7C86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3 — Classification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1  ·  Week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Predict a category — badly delayed, yes or no. Decision Tree and KNN; the confusion matrix.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Flag badly-delayed trips at ~80% accuracy — but recall is only ~51%, so it misses half of them.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Tune max_depth, then write the plain-English manager's memo.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“Accuracy hides which mistakes you make — a missed delay costs most.”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3 · L3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0E7C86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4 — Regression &amp; Honest Evaluation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1  ·  Week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Predict a number — minutes late. MAE, R², overfitting, and cross-validation.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The simple linear model (MAE ~4.7 min) beats an overfit forest (train 2.0 / test 5.3).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Drop cause_category and watch R² collapse from 0.58 to 0.18.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“Trust the test error, not the training error.”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4 · L4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0E7C86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5 — Unsupervised + Module 1 Wrap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1  ·  Week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Find groups with no labels — k-means, plus PCA to see them in two dimensions.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Cluster 20 operators into reliable, average, and needs-support groups.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0E7C8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C86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0E7C86"/>
                </a:solidFill>
                <a:latin typeface="Cambria"/>
                <a:ea typeface="Cambria"/>
                <a:cs typeface="Cambria"/>
                <a:sym typeface="Cambria"/>
              </a:rPr>
              <a:t>DELIVERABLE 1  (15%)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One-page problem statement for your capstone.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“Clustering finds the groups; you give them meaning.”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5 · L5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3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7132320" y="-1097280"/>
            <a:ext cx="4023360" cy="4023360"/>
          </a:xfrm>
          <a:prstGeom prst="ellipse">
            <a:avLst/>
          </a:prstGeom>
          <a:solidFill>
            <a:srgbClr val="7A3B6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D0C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8FD0CF"/>
                </a:solidFill>
                <a:latin typeface="Calibri"/>
                <a:ea typeface="Calibri"/>
                <a:cs typeface="Calibri"/>
                <a:sym typeface="Calibri"/>
              </a:rPr>
              <a:t>MODULE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548640" y="132588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Neural Networks &amp; Modern AI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CFE3E3"/>
                </a:solidFill>
                <a:latin typeface="Cambria"/>
                <a:ea typeface="Cambria"/>
                <a:cs typeface="Cambria"/>
                <a:sym typeface="Cambria"/>
              </a:rPr>
              <a:t>Days 6–10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48640" y="2971800"/>
            <a:ext cx="7955280" cy="1280160"/>
          </a:xfrm>
          <a:prstGeom prst="roundRect">
            <a:avLst>
              <a:gd fmla="val 5714" name="adj"/>
            </a:avLst>
          </a:prstGeom>
          <a:solidFill>
            <a:srgbClr val="0B2E32"/>
          </a:solidFill>
          <a:ln cap="flat" cmpd="sng" w="12700">
            <a:solidFill>
              <a:srgbClr val="1C52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777240" y="312724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6850F"/>
                </a:solidFill>
                <a:latin typeface="Calibri"/>
                <a:ea typeface="Calibri"/>
                <a:cs typeface="Calibri"/>
                <a:sym typeface="Calibri"/>
              </a:rPr>
              <a:t>ROUTE R12 HOOK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77240" y="3383280"/>
            <a:ext cx="7498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0F0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E4F0F0"/>
                </a:solidFill>
                <a:latin typeface="Calibri"/>
                <a:ea typeface="Calibri"/>
                <a:cs typeface="Calibri"/>
                <a:sym typeface="Calibri"/>
              </a:rPr>
              <a:t>From flagging R12's delay to drafting its passenger SMS — we open up neural networks and language models.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040880" y="1371600"/>
            <a:ext cx="146304" cy="146304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9" name="Google Shape;279;p11"/>
          <p:cNvCxnSpPr/>
          <p:nvPr/>
        </p:nvCxnSpPr>
        <p:spPr>
          <a:xfrm>
            <a:off x="7187184" y="1444752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D6850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0" name="Google Shape;280;p11"/>
          <p:cNvSpPr/>
          <p:nvPr/>
        </p:nvSpPr>
        <p:spPr>
          <a:xfrm>
            <a:off x="8147304" y="1371600"/>
            <a:ext cx="146304" cy="146304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/>
          <p:nvPr/>
        </p:nvSpPr>
        <p:spPr>
          <a:xfrm>
            <a:off x="6720840" y="155448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FE3E3"/>
                </a:solidFill>
                <a:latin typeface="Calibri"/>
                <a:ea typeface="Calibri"/>
                <a:cs typeface="Calibri"/>
                <a:sym typeface="Calibri"/>
              </a:rPr>
              <a:t>Wilberforce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7827264" y="155448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FE3E3"/>
                </a:solidFill>
                <a:latin typeface="Calibri"/>
                <a:ea typeface="Calibri"/>
                <a:cs typeface="Calibri"/>
                <a:sym typeface="Calibri"/>
              </a:rPr>
              <a:t>CBD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2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7A3B6B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L6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2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6 — How a Neuron Learns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2  ·  Week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A neuron = inputs × weights + bias → activation; it learns by lowering a loss.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Train one neuron by hand — accuracy climbs 72% → 81%; the mechanical fault earns the biggest weight.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Change the learning rate and watch the loss curve respond.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“Learning is small downhill steps that lower the loss.”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6 · L6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7A3B6B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L7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7 — Building a Neural Network (Keras)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2  ·  Week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Stack Dense layers; compile with an optimizer and loss; read the training vs validation curves.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A 16 → 8 → 1 network reaches ~82% — and the curves show overfitting begin.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Change the hidden-layer size and watch the gap widen.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“The validation curve shows when it stops learning and starts memorising.”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7 · L7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4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7A3B6B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L8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8 — Transfer Learning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2  ·  Week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Reuse a model pre-trained on millions of images; freeze it and train only a small head.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Classify fleet cards — roadworthy / minor / grounded — with MobileNetV2.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Train for more epochs; a frozen base converges fast.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4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“Reuse the giant model's eyes; teach only the last layer.”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8 · L8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5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7A3B6B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L9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9 — Calling an LLM through an API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2  ·  Week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An LLM predicts the next token; an API sends it a prompt and returns text.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5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Summarise the incident report, classify a complaint, and extract fields with Gemini.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Write your own grounded instruction about R12.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“Give it the facts in the prompt — and verify before you act.”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9 · L9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7A3B6B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L10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6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10 — Prompting as Specification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2  ·  Week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Zero-shot vs few-shot; system instructions; structured JSON output.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Few-shot complaint routing, a JSON incident record, and a Krio passenger SMS.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7A3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6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3B6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7A3B6B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Change the tone of the SMS and compare.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6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6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“A prompt is a specification — be explicit and show examples.”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6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10 · L10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6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6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3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"/>
          <p:cNvSpPr/>
          <p:nvPr/>
        </p:nvSpPr>
        <p:spPr>
          <a:xfrm>
            <a:off x="7132320" y="-1097280"/>
            <a:ext cx="4023360" cy="4023360"/>
          </a:xfrm>
          <a:prstGeom prst="ellipse">
            <a:avLst/>
          </a:prstGeom>
          <a:solidFill>
            <a:srgbClr val="D6850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548640" y="960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A93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6A93D"/>
                </a:solidFill>
                <a:latin typeface="Calibri"/>
                <a:ea typeface="Calibri"/>
                <a:cs typeface="Calibri"/>
                <a:sym typeface="Calibri"/>
              </a:rPr>
              <a:t>MODULE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548640" y="132588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Build &amp; Present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CFE3E3"/>
                </a:solidFill>
                <a:latin typeface="Cambria"/>
                <a:ea typeface="Cambria"/>
                <a:cs typeface="Cambria"/>
                <a:sym typeface="Cambria"/>
              </a:rPr>
              <a:t>Days 11–15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548640" y="2971800"/>
            <a:ext cx="7955280" cy="1280160"/>
          </a:xfrm>
          <a:prstGeom prst="roundRect">
            <a:avLst>
              <a:gd fmla="val 5714" name="adj"/>
            </a:avLst>
          </a:prstGeom>
          <a:solidFill>
            <a:srgbClr val="0B2E32"/>
          </a:solidFill>
          <a:ln cap="flat" cmpd="sng" w="12700">
            <a:solidFill>
              <a:srgbClr val="1C52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777240" y="312724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6850F"/>
                </a:solidFill>
                <a:latin typeface="Calibri"/>
                <a:ea typeface="Calibri"/>
                <a:cs typeface="Calibri"/>
                <a:sym typeface="Calibri"/>
              </a:rPr>
              <a:t>ROUTE R12 HOOK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777240" y="3383280"/>
            <a:ext cx="7498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0F0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E4F0F0"/>
                </a:solidFill>
                <a:latin typeface="Calibri"/>
                <a:ea typeface="Calibri"/>
                <a:cs typeface="Calibri"/>
                <a:sym typeface="Calibri"/>
              </a:rPr>
              <a:t>Turn the R12 delay-risk model into a tool a dispatcher can click — then stand up and present it.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7040880" y="1371600"/>
            <a:ext cx="146304" cy="146304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1" name="Google Shape;431;p17"/>
          <p:cNvCxnSpPr/>
          <p:nvPr/>
        </p:nvCxnSpPr>
        <p:spPr>
          <a:xfrm>
            <a:off x="7187184" y="1444752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D6850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32" name="Google Shape;432;p17"/>
          <p:cNvSpPr/>
          <p:nvPr/>
        </p:nvSpPr>
        <p:spPr>
          <a:xfrm>
            <a:off x="8147304" y="1371600"/>
            <a:ext cx="146304" cy="146304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6720840" y="155448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FE3E3"/>
                </a:solidFill>
                <a:latin typeface="Calibri"/>
                <a:ea typeface="Calibri"/>
                <a:cs typeface="Calibri"/>
                <a:sym typeface="Calibri"/>
              </a:rPr>
              <a:t>Wilberforce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7827264" y="155448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FE3E3"/>
                </a:solidFill>
                <a:latin typeface="Calibri"/>
                <a:ea typeface="Calibri"/>
                <a:cs typeface="Calibri"/>
                <a:sym typeface="Calibri"/>
              </a:rPr>
              <a:t>CBD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D6850F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L11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11 — From Notebook to App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3  ·  Week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8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An app = model + UI + input/output handling. Gradio builds it in a few lines.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8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Wrap the complaint classifier so a dispatcher uses it with zero code.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EXERCISE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Change the app title and the worked examples.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8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“An app is a model plus a door users can open.”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11 · L11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D6850F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L12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12 — Responsible AI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3  ·  Week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An accurate model can still be unfair or wrong; grounding guards against hallucination.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9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9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The delay model flags Heavy Rain 84% vs Sunny 15% — fair to pre-warn, unfair to rank operators.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9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9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DELIVERABLE 2  (10%)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AI Ethics Checklist — at least two risks and mitigations.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9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“Check who it affects, and where it is weakest, before you deploy.”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12 · L12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0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D6850F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L13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13 — Capstone Build — Session 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3  ·  Week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0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A first working version: data pipeline, a model or API, and an initial UI.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TIA Lite (delay-risk + Gradio) as a template to adapt to your own problem.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0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TWO PATHS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Classical ML (no key) or LLM (needs a key) — keep the three blocks.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0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0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0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“Build one block at a time; test each before the next.”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0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13 · L13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0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0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D6850F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1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L14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14 — Capstone Build — Session 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3  ·  Week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1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Test with edge cases, refine one weakness, and document the result.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1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1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Build → test → fix → repeat; stress-test the tool the way a real dispatcher would.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1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1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DELIVERABLE 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One-page project brief: problem, data, model, results, limits, deployment.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1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1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1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“A demo that works once is not yet a tool people can trust.”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1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14 · L14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1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1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2"/>
          <p:cNvSpPr/>
          <p:nvPr/>
        </p:nvSpPr>
        <p:spPr>
          <a:xfrm>
            <a:off x="457200" y="411480"/>
            <a:ext cx="731520" cy="731520"/>
          </a:xfrm>
          <a:prstGeom prst="roundRect">
            <a:avLst>
              <a:gd fmla="val 12500" name="adj"/>
            </a:avLst>
          </a:prstGeom>
          <a:solidFill>
            <a:srgbClr val="D6850F"/>
          </a:solidFill>
          <a:ln>
            <a:noFill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2"/>
          <p:cNvSpPr/>
          <p:nvPr/>
        </p:nvSpPr>
        <p:spPr>
          <a:xfrm>
            <a:off x="457200" y="411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L15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1325880" y="420624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15242B"/>
                </a:solidFill>
                <a:latin typeface="Cambria"/>
                <a:ea typeface="Cambria"/>
                <a:cs typeface="Cambria"/>
                <a:sym typeface="Cambria"/>
              </a:rPr>
              <a:t>Day 15 — Presentations &amp; Closing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2"/>
          <p:cNvSpPr/>
          <p:nvPr/>
        </p:nvSpPr>
        <p:spPr>
          <a:xfrm>
            <a:off x="1325880" y="8778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Module 3  ·  Week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2"/>
          <p:cNvSpPr/>
          <p:nvPr/>
        </p:nvSpPr>
        <p:spPr>
          <a:xfrm>
            <a:off x="457200" y="1417320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2"/>
          <p:cNvSpPr/>
          <p:nvPr/>
        </p:nvSpPr>
        <p:spPr>
          <a:xfrm>
            <a:off x="658368" y="1600200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2"/>
          <p:cNvSpPr/>
          <p:nvPr/>
        </p:nvSpPr>
        <p:spPr>
          <a:xfrm>
            <a:off x="914400" y="152704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658368" y="1837944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8-minute demo + 4-minute Q&amp;A; arc = problem → data → demo → limits → next steps.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457200" y="2532888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2"/>
          <p:cNvSpPr/>
          <p:nvPr/>
        </p:nvSpPr>
        <p:spPr>
          <a:xfrm>
            <a:off x="658368" y="2715768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2"/>
          <p:cNvSpPr/>
          <p:nvPr/>
        </p:nvSpPr>
        <p:spPr>
          <a:xfrm>
            <a:off x="914400" y="26426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ROUTE R12 DEMO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2"/>
          <p:cNvSpPr/>
          <p:nvPr/>
        </p:nvSpPr>
        <p:spPr>
          <a:xfrm>
            <a:off x="658368" y="2953512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Deliverable 4 (30%): the live presentation, scored on the four-level rubric.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2"/>
          <p:cNvSpPr/>
          <p:nvPr/>
        </p:nvSpPr>
        <p:spPr>
          <a:xfrm>
            <a:off x="457200" y="3648456"/>
            <a:ext cx="4983480" cy="987552"/>
          </a:xfrm>
          <a:prstGeom prst="roundRect">
            <a:avLst>
              <a:gd fmla="val 6481" name="adj"/>
            </a:avLst>
          </a:prstGeom>
          <a:solidFill>
            <a:srgbClr val="F2F6F6"/>
          </a:solidFill>
          <a:ln cap="flat" cmpd="sng" w="12700">
            <a:solidFill>
              <a:srgbClr val="DBE6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2"/>
          <p:cNvSpPr/>
          <p:nvPr/>
        </p:nvSpPr>
        <p:spPr>
          <a:xfrm>
            <a:off x="658368" y="3831336"/>
            <a:ext cx="164592" cy="164592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2"/>
          <p:cNvSpPr/>
          <p:nvPr/>
        </p:nvSpPr>
        <p:spPr>
          <a:xfrm>
            <a:off x="914400" y="375818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SELF-CHECK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658368" y="4069080"/>
            <a:ext cx="45720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42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5242B"/>
                </a:solidFill>
                <a:latin typeface="Calibri"/>
                <a:ea typeface="Calibri"/>
                <a:cs typeface="Calibri"/>
                <a:sym typeface="Calibri"/>
              </a:rPr>
              <a:t>Correctness · Grounding · Clarity · Safety — Proficient+ on each to pass.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2"/>
          <p:cNvSpPr/>
          <p:nvPr/>
        </p:nvSpPr>
        <p:spPr>
          <a:xfrm>
            <a:off x="5715000" y="1417320"/>
            <a:ext cx="2971800" cy="3218688"/>
          </a:xfrm>
          <a:prstGeom prst="roundRect">
            <a:avLst>
              <a:gd fmla="val 2769" name="adj"/>
            </a:avLst>
          </a:prstGeom>
          <a:solidFill>
            <a:srgbClr val="FBEFD9"/>
          </a:solidFill>
          <a:ln cap="flat" cmpd="sng" w="12700">
            <a:solidFill>
              <a:srgbClr val="F0D9A8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94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2"/>
          <p:cNvSpPr/>
          <p:nvPr/>
        </p:nvSpPr>
        <p:spPr>
          <a:xfrm>
            <a:off x="5961888" y="16642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50"/>
              <a:buFont typeface="Cambria"/>
              <a:buNone/>
            </a:pPr>
            <a:r>
              <a:rPr b="1" i="0" lang="en-US" sz="115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IF YOU REMEMBER ONE THING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2"/>
          <p:cNvSpPr/>
          <p:nvPr/>
        </p:nvSpPr>
        <p:spPr>
          <a:xfrm>
            <a:off x="5961888" y="2057400"/>
            <a:ext cx="2468880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2A12"/>
              </a:buClr>
              <a:buSzPts val="1700"/>
              <a:buFont typeface="Cambria"/>
              <a:buNone/>
            </a:pPr>
            <a:r>
              <a:rPr b="0" i="1" lang="en-US" sz="1700" u="none" cap="none" strike="noStrike">
                <a:solidFill>
                  <a:srgbClr val="3A2A12"/>
                </a:solidFill>
                <a:latin typeface="Cambria"/>
                <a:ea typeface="Cambria"/>
                <a:cs typeface="Cambria"/>
                <a:sym typeface="Cambria"/>
              </a:rPr>
              <a:t>“Keep your notebooks as a portfolio; find real problems a small honest model helps.”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2"/>
          <p:cNvSpPr/>
          <p:nvPr/>
        </p:nvSpPr>
        <p:spPr>
          <a:xfrm>
            <a:off x="5961888" y="4160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5B0B"/>
              </a:buClr>
              <a:buSzPts val="1100"/>
              <a:buFont typeface="Cambria"/>
              <a:buNone/>
            </a:pPr>
            <a:r>
              <a:rPr b="0" i="1" lang="en-US" sz="1100" u="none" cap="none" strike="noStrike">
                <a:solidFill>
                  <a:srgbClr val="9A5B0B"/>
                </a:solidFill>
                <a:latin typeface="Cambria"/>
                <a:ea typeface="Cambria"/>
                <a:cs typeface="Cambria"/>
                <a:sym typeface="Cambria"/>
              </a:rPr>
              <a:t>— Day 15 · L15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2"/>
          <p:cNvSpPr/>
          <p:nvPr/>
        </p:nvSpPr>
        <p:spPr>
          <a:xfrm>
            <a:off x="457200" y="4864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IPAM USL · Introduction to 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2"/>
          <p:cNvSpPr/>
          <p:nvPr/>
        </p:nvSpPr>
        <p:spPr>
          <a:xfrm>
            <a:off x="8229600" y="486460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7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3F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3"/>
          <p:cNvSpPr/>
          <p:nvPr/>
        </p:nvSpPr>
        <p:spPr>
          <a:xfrm>
            <a:off x="-1280160" y="2468880"/>
            <a:ext cx="4023360" cy="4023360"/>
          </a:xfrm>
          <a:prstGeom prst="ellipse">
            <a:avLst/>
          </a:prstGeom>
          <a:solidFill>
            <a:srgbClr val="D6850F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3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From R12 to a working AI tool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640080" y="1965960"/>
            <a:ext cx="7680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4F0F0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E4F0F0"/>
                </a:solidFill>
                <a:latin typeface="Calibri"/>
                <a:ea typeface="Calibri"/>
                <a:cs typeface="Calibri"/>
                <a:sym typeface="Calibri"/>
              </a:rPr>
              <a:t>In 15 days: “can a computer learn the rule?” → a deployed delay-risk app.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E4F0F0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E4F0F0"/>
                </a:solidFill>
                <a:latin typeface="Calibri"/>
                <a:ea typeface="Calibri"/>
                <a:cs typeface="Calibri"/>
                <a:sym typeface="Calibri"/>
              </a:rPr>
              <a:t>Difficulty scaled through capability, not story — one R12 thread throughout.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1000"/>
              </a:spcBef>
              <a:spcAft>
                <a:spcPts val="0"/>
              </a:spcAft>
              <a:buClr>
                <a:srgbClr val="E4F0F0"/>
              </a:buClr>
              <a:buSzPts val="1550"/>
              <a:buFont typeface="Calibri"/>
              <a:buChar char="•"/>
            </a:pPr>
            <a:r>
              <a:rPr b="0" i="0" lang="en-US" sz="1550" u="none" cap="none" strike="noStrike">
                <a:solidFill>
                  <a:srgbClr val="E4F0F0"/>
                </a:solidFill>
                <a:latin typeface="Calibri"/>
                <a:ea typeface="Calibri"/>
                <a:cs typeface="Calibri"/>
                <a:sym typeface="Calibri"/>
              </a:rPr>
              <a:t>Honest about limits at every step: knowing when not to trust the model.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/>
          <p:nvPr/>
        </p:nvSpPr>
        <p:spPr>
          <a:xfrm>
            <a:off x="548640" y="39319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850F"/>
              </a:buClr>
              <a:buSzPts val="2000"/>
              <a:buFont typeface="Cambria"/>
              <a:buNone/>
            </a:pPr>
            <a:r>
              <a:rPr b="1" i="1" lang="en-US" sz="2000" u="none" cap="none" strike="noStrike">
                <a:solidFill>
                  <a:srgbClr val="D6850F"/>
                </a:solidFill>
                <a:latin typeface="Cambria"/>
                <a:ea typeface="Cambria"/>
                <a:cs typeface="Cambria"/>
                <a:sym typeface="Cambria"/>
              </a:rPr>
              <a:t>Thank you — questions?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6858000" y="4069080"/>
            <a:ext cx="146304" cy="146304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0" name="Google Shape;580;p23"/>
          <p:cNvCxnSpPr/>
          <p:nvPr/>
        </p:nvCxnSpPr>
        <p:spPr>
          <a:xfrm>
            <a:off x="7004304" y="4142232"/>
            <a:ext cx="960120" cy="0"/>
          </a:xfrm>
          <a:prstGeom prst="straightConnector1">
            <a:avLst/>
          </a:prstGeom>
          <a:noFill/>
          <a:ln cap="flat" cmpd="sng" w="25400">
            <a:solidFill>
              <a:srgbClr val="D6850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81" name="Google Shape;581;p23"/>
          <p:cNvSpPr/>
          <p:nvPr/>
        </p:nvSpPr>
        <p:spPr>
          <a:xfrm>
            <a:off x="7964424" y="4069080"/>
            <a:ext cx="146304" cy="146304"/>
          </a:xfrm>
          <a:prstGeom prst="ellipse">
            <a:avLst/>
          </a:prstGeom>
          <a:solidFill>
            <a:srgbClr val="D685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3"/>
          <p:cNvSpPr/>
          <p:nvPr/>
        </p:nvSpPr>
        <p:spPr>
          <a:xfrm>
            <a:off x="6537960" y="4251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FE3E3"/>
                </a:solidFill>
                <a:latin typeface="Calibri"/>
                <a:ea typeface="Calibri"/>
                <a:cs typeface="Calibri"/>
                <a:sym typeface="Calibri"/>
              </a:rPr>
              <a:t>Wilberforce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7644384" y="4251960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E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CFE3E3"/>
                </a:solidFill>
                <a:latin typeface="Calibri"/>
                <a:ea typeface="Calibri"/>
                <a:cs typeface="Calibri"/>
                <a:sym typeface="Calibri"/>
              </a:rPr>
              <a:t>CBD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2026-06-17T08:02:33Z</dcterms:created>
  <dc:creator>Solomon Wilson MBCS</dc:creator>
</cp:coreProperties>
</file>